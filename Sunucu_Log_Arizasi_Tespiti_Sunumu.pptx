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Pencereler</c:v>
                </c:pt>
              </c:strCache>
            </c:strRef>
          </c:tx>
          <c:dPt>
            <c:idx val="0"/>
            <c:spPr>
              <a:solidFill>
                <a:srgbClr val="1A3E63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cat>
            <c:strRef>
              <c:f>Sheet1!$A$2:$A$3</c:f>
              <c:strCache>
                <c:ptCount val="2"/>
                <c:pt idx="0">
                  <c:v>Normal</c:v>
                </c:pt>
                <c:pt idx="1">
                  <c:v>Anomali (pozitif)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5689</c:v>
                </c:pt>
                <c:pt idx="1">
                  <c:v>267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3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dPt>
            <c:idx val="0"/>
            <c:spPr>
              <a:solidFill>
                <a:srgbClr val="DD5454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DD5454"/>
              </a:solidFill>
            </c:spPr>
          </c:dPt>
          <c:dPt>
            <c:idx val="3"/>
            <c:spPr>
              <a:solidFill>
                <a:srgbClr val="0FB5A6"/>
              </a:solidFill>
            </c:spPr>
          </c:dPt>
          <c:cat>
            <c:strRef>
              <c:f>Sheet1!$A$2:$A$5</c:f>
              <c:strCache>
                <c:ptCount val="4"/>
                <c:pt idx="0">
                  <c:v>BiLSTM
CrossEntropy</c:v>
                </c:pt>
                <c:pt idx="1">
                  <c:v>BiLSTM
BCE</c:v>
                </c:pt>
                <c:pt idx="2">
                  <c:v>BiLSTM
Focal</c:v>
                </c:pt>
                <c:pt idx="3">
                  <c:v>Isolation Forest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0.44</c:v>
                </c:pt>
                <c:pt idx="1">
                  <c:v>0.71</c:v>
                </c:pt>
                <c:pt idx="2">
                  <c:v>0.37</c:v>
                </c:pt>
                <c:pt idx="3">
                  <c:v>0.81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300" b="1">
                  <a:solidFill>
                    <a:srgbClr val="0F2B46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0F2B46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E5A68"/>
                </a:solidFill>
              </a:defRPr>
            </a:pPr>
          </a:p>
        </c:txPr>
        <c:crossAx val="-2068027336"/>
        <c:crosses val="autoZero"/>
        <c:majorUnit val="0.25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Açılış: 743 MB'lık ham süper bilgisayar logundan, hiçbir arıza etiketi görmeden erken uyarı üreten bir sistem geliştirdik.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Sunum akışı: problem, veri, yöntem, sonuçlar, karşılaştırma, sonuç.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Amaç: etiketsiz ortamda loglardan arıza öngörüsü.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Üç kapsam kısıtı: odak, veri, tespit düzeyi.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Benchmark kümesi; alert oranı %8,4 ile dengesiz.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Ham logdan skora: parse, pencere, öznitelik, model, değerlendirme.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 vd. 2017; çevrimiçi, sabit derinlikli ağaç.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Zaman serisi; her pencere tek gözlem; etiket gelecekteki aleate bağlı.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Pozitifler az; bu, hem IF precision'ını hem denetimli başarısızlığı açıklar.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Liu vd. 2008; az ve uzak gözlemler hızla izole edilir.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Kronolojik split + yalnızca eğitimde fit edilen scaler.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Test: 1192 pencere, 22 pozitif. AUC 0,81 güçlü ayırt edicilik.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Recall-precision ödünleşimi ve pencere uzunluğu trade-off'u.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LogRobust mimarisi; hiçbiri pozitifleri yakalayamadı.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Üç birleşik neden; sorun yöntemin doğasında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Gözetimsiz yaklaşım güvenilir temel; etiket maliyeti sıfır.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Dört somut iyileştirme yönü.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Kapanış: sorular için hazır.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966960" y="-1463040"/>
            <a:ext cx="4206240" cy="4206240"/>
          </a:xfrm>
          <a:prstGeom prst="roundRect">
            <a:avLst/>
          </a:prstGeom>
          <a:solidFill>
            <a:srgbClr val="1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881360" y="4480560"/>
            <a:ext cx="3108960" cy="3108960"/>
          </a:xfrm>
          <a:prstGeom prst="roundRect">
            <a:avLst/>
          </a:prstGeom>
          <a:solidFill>
            <a:srgbClr val="1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1005840" cy="6858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241280" cy="17373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Sunucu Log Kayıtlarında
Sistem Arızası Tespiti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1024128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6FD9CE"/>
                </a:solidFill>
                <a:latin typeface="Calibri"/>
              </a:rPr>
              <a:t>Isolation Forest ile Gözetimsiz Anomali Tespiti ve Erken Uyarı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4754880" cy="10972"/>
          </a:xfrm>
          <a:prstGeom prst="rect">
            <a:avLst/>
          </a:prstGeom>
          <a:solidFill>
            <a:srgbClr val="2E5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389120"/>
            <a:ext cx="1005840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Selçuk Sezer</a:t>
            </a:r>
            <a:r>
              <a:rPr sz="1400" b="0" i="0">
                <a:solidFill>
                  <a:srgbClr val="A9C2D4"/>
                </a:solidFill>
                <a:latin typeface="Calibri"/>
              </a:rPr>
              <a:t>   •   Veri Analitiği Bireysel Proje Bitirme Sunumu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C2D4"/>
                </a:solidFill>
                <a:latin typeface="Calibri"/>
              </a:rPr>
              <a:t>softITo Yazılım Bilişim Akademisi  •  İstanbul  •  Ağustos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9184"/>
            <a:ext cx="10789920" cy="6583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2B46"/>
                </a:solidFill>
                <a:latin typeface="Calibri"/>
              </a:rPr>
              <a:t>Ajanda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5394960" cy="4389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01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Problem Tanımı ve Amaç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02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Proje Kısıtları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03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BGL Veri Kümesi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04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Uçtan Uca Pipeline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05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Drain ile Log Ayrıştırma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5394960" cy="4389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06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Kayan Pencere ve Öznitelik Çıkarımı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07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Isolation Forest Yöntemi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08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Deneysel Sonuçlar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09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Denetimli Modellerle Karşılaştırma</a:t>
            </a:r>
          </a:p>
          <a:p>
            <a:pPr algn="l">
              <a:spcBef>
                <a:spcPts val="0"/>
              </a:spcBef>
              <a:spcAft>
                <a:spcPts val="2200"/>
              </a:spcAft>
            </a:pPr>
            <a:r>
              <a:rPr sz="2000" b="1" i="0">
                <a:solidFill>
                  <a:srgbClr val="0FB5A6"/>
                </a:solidFill>
                <a:latin typeface="Consolas"/>
              </a:rPr>
              <a:t>10</a:t>
            </a:r>
            <a:r>
              <a:rPr sz="1700" b="1" i="0">
                <a:solidFill>
                  <a:srgbClr val="0F2B46"/>
                </a:solidFill>
                <a:latin typeface="Calibri"/>
              </a:rPr>
              <a:t>   Sonuç ve Gelecek Çalışmalar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01 • GIRIŞ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Problem ve Amaç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6675120" cy="4754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600" b="1" i="0">
                <a:solidFill>
                  <a:srgbClr val="0F2B46"/>
                </a:solidFill>
                <a:latin typeface="Calibri"/>
              </a:rPr>
              <a:t>Süper bilgisayarlar günde milyonlarca konsol logu üretir; arızaların erken sinyalleri bu akışta saklıdır.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4E5A68"/>
                </a:solidFill>
                <a:latin typeface="Calibri"/>
              </a:rPr>
              <a:t>•  Amaç: Blue Gene/L (BGL) ham loglarından hareketle, gözetimsiz öğrenme ile anormal sistem davranışlarını tespit etmek ve olası arızaları ileriye dönük öngörmek.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4E5A68"/>
                </a:solidFill>
                <a:latin typeface="Calibri"/>
              </a:rPr>
              <a:t>•  Geleneksel denetimli modellerden farkı: Isolation Forest, arıza etiketi görmeden “normal davranışı” öğrenir; istatistiksel olarak sapan durumları anomali sayar.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0" i="0">
                <a:solidFill>
                  <a:srgbClr val="4E5A68"/>
                </a:solidFill>
                <a:latin typeface="Calibri"/>
              </a:rPr>
              <a:t>•  Alert etiketleri modele verilmez; yalnızca sonucun doğrulanması (sanity check) için kullanılır.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1481328"/>
            <a:ext cx="3886200" cy="749808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82127" y="1655064"/>
            <a:ext cx="402336" cy="402336"/>
          </a:xfrm>
          <a:prstGeom prst="ellipse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554480"/>
            <a:ext cx="310896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F2B46"/>
                </a:solidFill>
                <a:latin typeface="Calibri"/>
              </a:rPr>
              <a:t>LOG AYRIŞTIRMA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5A68"/>
                </a:solidFill>
                <a:latin typeface="Calibri"/>
              </a:rPr>
              <a:t>Drain algoritması ile şablonlama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9528048" y="2249424"/>
            <a:ext cx="274320" cy="219456"/>
          </a:xfrm>
          <a:prstGeom prst="downArrow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26679" y="2505456"/>
            <a:ext cx="3886200" cy="749808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82127" y="2679192"/>
            <a:ext cx="402336" cy="402336"/>
          </a:xfrm>
          <a:prstGeom prst="ellipse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578608"/>
            <a:ext cx="310896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F2B46"/>
                </a:solidFill>
                <a:latin typeface="Calibri"/>
              </a:rPr>
              <a:t>ÖZNİTELİK ÇIKARIMI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5A68"/>
                </a:solidFill>
                <a:latin typeface="Calibri"/>
              </a:rPr>
              <a:t>15 dk'lık kayan pencereler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9528048" y="3273552"/>
            <a:ext cx="274320" cy="219456"/>
          </a:xfrm>
          <a:prstGeom prst="downArrow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26679" y="3529584"/>
            <a:ext cx="3886200" cy="749808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82127" y="3703320"/>
            <a:ext cx="402336" cy="402336"/>
          </a:xfrm>
          <a:prstGeom prst="ellipse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02736"/>
            <a:ext cx="310896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F2B46"/>
                </a:solidFill>
                <a:latin typeface="Calibri"/>
              </a:rPr>
              <a:t>GÖZETİMSİZ MODEL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5A68"/>
                </a:solidFill>
                <a:latin typeface="Calibri"/>
              </a:rPr>
              <a:t>Isolation Forest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9528048" y="4297680"/>
            <a:ext cx="274320" cy="219456"/>
          </a:xfrm>
          <a:prstGeom prst="downArrow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26679" y="4553712"/>
            <a:ext cx="3886200" cy="749808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82127" y="4727448"/>
            <a:ext cx="402336" cy="402336"/>
          </a:xfrm>
          <a:prstGeom prst="ellipse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626864"/>
            <a:ext cx="3108960" cy="603504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F2B46"/>
                </a:solidFill>
                <a:latin typeface="Calibri"/>
              </a:rPr>
              <a:t>DOĞRULAMA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5A68"/>
                </a:solidFill>
                <a:latin typeface="Calibri"/>
              </a:rPr>
              <a:t>Gerçek alert etiketleriyle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01 • GIRIŞ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Proje Kısıtları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3593592" cy="4206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3593592" cy="128016"/>
          </a:xfrm>
          <a:prstGeom prst="round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74519"/>
            <a:ext cx="3136392" cy="374903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0F2B46"/>
                </a:solidFill>
                <a:latin typeface="Calibri"/>
              </a:rPr>
              <a:t>KISIT 1 — KAPSAM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E5A68"/>
                </a:solidFill>
                <a:latin typeface="Calibri"/>
              </a:rPr>
              <a:t>•  Odak: Isolation Forest tabanlı gözetimsiz tespit ve veri hazırlama adımları.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E5A68"/>
                </a:solidFill>
                <a:latin typeface="Calibri"/>
              </a:rPr>
              <a:t>•  Denetimli modeller (LogRobust / BiLSTM) yalnızca özet sonuçlarla karşılaştırma amacıyla dahil edildi.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E5A68"/>
                </a:solidFill>
                <a:latin typeface="Calibri"/>
              </a:rPr>
              <a:t>•  LogBERT, XGBoost vb. derin kıyaslamalar kapsam dışı.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35424" y="1554480"/>
            <a:ext cx="3593592" cy="4206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35424" y="1554480"/>
            <a:ext cx="3593592" cy="12801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874519"/>
            <a:ext cx="3136392" cy="374903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0F2B46"/>
                </a:solidFill>
                <a:latin typeface="Calibri"/>
              </a:rPr>
              <a:t>KISIT 2 — VERİ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E5A68"/>
                </a:solidFill>
                <a:latin typeface="Calibri"/>
              </a:rPr>
              <a:t>•  Yalnızca Los Alamos National Laboratory'nin paylaştığı BGL veri kümesi kullanıldı.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E5A68"/>
                </a:solidFill>
                <a:latin typeface="Calibri"/>
              </a:rPr>
              <a:t>•  Farklı sistemlere veya zaman dilimlerine genelleme kapsam dışı.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85048" y="1554480"/>
            <a:ext cx="3593592" cy="4206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85048" y="1554480"/>
            <a:ext cx="3593592" cy="128016"/>
          </a:xfrm>
          <a:prstGeom prst="roundRect">
            <a:avLst/>
          </a:prstGeom>
          <a:solidFill>
            <a:srgbClr val="1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13648" y="1874519"/>
            <a:ext cx="3136392" cy="3749039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 i="0">
                <a:solidFill>
                  <a:srgbClr val="0F2B46"/>
                </a:solidFill>
                <a:latin typeface="Calibri"/>
              </a:rPr>
              <a:t>KISIT 3 — TESPİT DÜZEYİ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E5A68"/>
                </a:solidFill>
                <a:latin typeface="Calibri"/>
              </a:rPr>
              <a:t>•  Anomali tespiti pencere (window) düzeyinde yapıldı.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E5A68"/>
                </a:solidFill>
                <a:latin typeface="Calibri"/>
              </a:rPr>
              <a:t>•  Tekil log satırı / oturum düzeyi tespit, gerçek zamanlı streaming senaryoları ve dağıtık eğitim kapsam dışı.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02 • VERI VE YÖNTEM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BGL Veri Kümesi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10881360" cy="685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4E5A68"/>
                </a:solidFill>
                <a:latin typeface="Calibri"/>
              </a:rPr>
              <a:t>Los Alamos National Laboratory bünyesindeki, 131.072 işlemcili Blue Gene/L süper bilgisayarının konsol logları — log tabanlı arıza tahmininde standart kıyaslama kümesi.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286000"/>
            <a:ext cx="3593592" cy="14173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286000"/>
            <a:ext cx="64008" cy="141732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340864"/>
            <a:ext cx="3300984" cy="1307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2B46"/>
                </a:solidFill>
                <a:latin typeface="Calibri"/>
              </a:rPr>
              <a:t>131.072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işlemci (Blue Gene/L, LANL)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2286000"/>
            <a:ext cx="3593592" cy="14173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35424" y="2286000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2340864"/>
            <a:ext cx="3300984" cy="1307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2B46"/>
                </a:solidFill>
                <a:latin typeface="Calibri"/>
              </a:rPr>
              <a:t>~743 MB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ham log dosyası (data/BGL.log)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85048" y="2286000"/>
            <a:ext cx="3593592" cy="14173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85048" y="2286000"/>
            <a:ext cx="64008" cy="141732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67928" y="2340864"/>
            <a:ext cx="3300984" cy="1307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2B46"/>
                </a:solidFill>
                <a:latin typeface="Calibri"/>
              </a:rPr>
              <a:t>3.017.161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log satırı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977639"/>
            <a:ext cx="3593592" cy="14173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977639"/>
            <a:ext cx="64008" cy="14173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032503"/>
            <a:ext cx="3300984" cy="1307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2B46"/>
                </a:solidFill>
                <a:latin typeface="Calibri"/>
              </a:rPr>
              <a:t>5.000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farklı olay tipi (event_id)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35424" y="3977639"/>
            <a:ext cx="3593592" cy="14173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35424" y="3977639"/>
            <a:ext cx="64008" cy="1417320"/>
          </a:xfrm>
          <a:prstGeom prst="rect">
            <a:avLst/>
          </a:prstGeom>
          <a:solidFill>
            <a:srgbClr val="DD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4032503"/>
            <a:ext cx="3300984" cy="1307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2B46"/>
                </a:solidFill>
                <a:latin typeface="Calibri"/>
              </a:rPr>
              <a:t>~%8,4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alert oranı — sınıf dengesizliği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5048" y="3977639"/>
            <a:ext cx="3593592" cy="14173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85048" y="3977639"/>
            <a:ext cx="64008" cy="1417320"/>
          </a:xfrm>
          <a:prstGeom prst="rect">
            <a:avLst/>
          </a:prstGeom>
          <a:solidFill>
            <a:srgbClr val="1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67928" y="4032503"/>
            <a:ext cx="3300984" cy="130759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0F2B46"/>
                </a:solidFill>
                <a:latin typeface="Calibri"/>
              </a:rPr>
              <a:t>4 tip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donanım · dosya sistemi · ağ · kullanıcı hataları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5623560"/>
            <a:ext cx="10817352" cy="566928"/>
          </a:xfrm>
          <a:prstGeom prst="round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69280"/>
            <a:ext cx="10424160" cy="47548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2B46"/>
                </a:solidFill>
                <a:latin typeface="Calibri"/>
              </a:rPr>
              <a:t>Etiket tanımı:  </a:t>
            </a:r>
            <a:r>
              <a:rPr sz="1250" b="0" i="0">
                <a:solidFill>
                  <a:srgbClr val="4E5A68"/>
                </a:solidFill>
                <a:latin typeface="Calibri"/>
              </a:rPr>
              <a:t>KERN / APP / RAS önekli satırlar “alert” (gerçek arıza/uyarı) olarak işaretlenir.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02 • VERI VE YÖNTEM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Uçtan Uca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5</a:t>
            </a:r>
          </a:p>
        </p:txBody>
      </p:sp>
      <p:sp>
        <p:nvSpPr>
          <p:cNvPr id="9" name="Pentagon 8"/>
          <p:cNvSpPr/>
          <p:nvPr/>
        </p:nvSpPr>
        <p:spPr>
          <a:xfrm>
            <a:off x="566928" y="1600200"/>
            <a:ext cx="1883664" cy="914400"/>
          </a:xfrm>
          <a:prstGeom prst="homePlate">
            <a:avLst/>
          </a:prstGeom>
          <a:solidFill>
            <a:srgbClr val="1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HAM LOGLAR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651760"/>
            <a:ext cx="197510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E5A68"/>
                </a:solidFill>
                <a:latin typeface="Calibri"/>
              </a:rPr>
              <a:t>BGL.log
743 MB · 3,0 M satır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9444" y="1600200"/>
            <a:ext cx="1883664" cy="914400"/>
          </a:xfrm>
          <a:prstGeom prst="chevron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DRAIN PARSE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5164" y="2651760"/>
            <a:ext cx="197510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E5A68"/>
                </a:solidFill>
                <a:latin typeface="Calibri"/>
              </a:rPr>
              <a:t>parsed.csv
timestamp · event_id · template</a:t>
            </a:r>
          </a:p>
        </p:txBody>
      </p:sp>
      <p:sp>
        <p:nvSpPr>
          <p:cNvPr id="13" name="Chevron 12"/>
          <p:cNvSpPr/>
          <p:nvPr/>
        </p:nvSpPr>
        <p:spPr>
          <a:xfrm>
            <a:off x="4251960" y="1600200"/>
            <a:ext cx="1883664" cy="914400"/>
          </a:xfrm>
          <a:prstGeom prst="chevron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KAYAN PENCERE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51760"/>
            <a:ext cx="197510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E5A68"/>
                </a:solidFill>
                <a:latin typeface="Calibri"/>
              </a:rPr>
              <a:t>15 dk pencereler
5.957 örnek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1600200"/>
            <a:ext cx="1883664" cy="914400"/>
          </a:xfrm>
          <a:prstGeom prst="chevron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ÖZNİTELİK VEKTÖRÜ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0196" y="2651760"/>
            <a:ext cx="197510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E5A68"/>
                </a:solidFill>
                <a:latin typeface="Calibri"/>
              </a:rPr>
              <a:t>5.008 boyut
frekans + meta + StandardScaler</a:t>
            </a:r>
          </a:p>
        </p:txBody>
      </p:sp>
      <p:sp>
        <p:nvSpPr>
          <p:cNvPr id="17" name="Chevron 16"/>
          <p:cNvSpPr/>
          <p:nvPr/>
        </p:nvSpPr>
        <p:spPr>
          <a:xfrm>
            <a:off x="7936992" y="1600200"/>
            <a:ext cx="1883664" cy="914400"/>
          </a:xfrm>
          <a:prstGeom prst="chevron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ISOLATION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2651760"/>
            <a:ext cx="197510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E5A68"/>
                </a:solidFill>
                <a:latin typeface="Calibri"/>
              </a:rPr>
              <a:t>200 ağaç
contamination = 0,06</a:t>
            </a:r>
          </a:p>
        </p:txBody>
      </p:sp>
      <p:sp>
        <p:nvSpPr>
          <p:cNvPr id="19" name="Chevron 18"/>
          <p:cNvSpPr/>
          <p:nvPr/>
        </p:nvSpPr>
        <p:spPr>
          <a:xfrm>
            <a:off x="9779508" y="1600200"/>
            <a:ext cx="1883664" cy="914400"/>
          </a:xfrm>
          <a:prstGeom prst="chevron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DEĞERLENDİRME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5228" y="2651760"/>
            <a:ext cx="1975104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4E5A68"/>
                </a:solidFill>
                <a:latin typeface="Calibri"/>
              </a:rPr>
              <a:t>alert etiketleriyle
sanity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886200"/>
            <a:ext cx="3593592" cy="16002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4041648"/>
            <a:ext cx="3200400" cy="1325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67B"/>
                </a:solidFill>
                <a:latin typeface="Consolas"/>
              </a:rPr>
              <a:t>data/parsed.csv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3,0 M satır → timestamp, is_alert, event_id (1–5.000), template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35424" y="3886200"/>
            <a:ext cx="3593592" cy="16002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4041648"/>
            <a:ext cx="3200400" cy="1325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67B"/>
                </a:solidFill>
                <a:latin typeface="Consolas"/>
              </a:rPr>
              <a:t>X ∈ ℝ^(5957×5008)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Öznitelik matrisi + y etiket vektörü; kronolojik %80 / %20 ayrım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85048" y="3886200"/>
            <a:ext cx="3593592" cy="16002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86216" y="4041648"/>
            <a:ext cx="3200400" cy="1325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0B867B"/>
                </a:solidFill>
                <a:latin typeface="Consolas"/>
              </a:rPr>
              <a:t>logs/isolation_model.pkl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Eğitilmiş model + ölçekleyici; tekrarlanabilirlik: random_state=42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760720"/>
            <a:ext cx="10817352" cy="502920"/>
          </a:xfrm>
          <a:prstGeom prst="round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88152"/>
            <a:ext cx="10424160" cy="43891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Tüm parametreler tek noktadan yönetilir: config.yaml  •  ilk çalıştırmada parse otomatik, sonrasında cache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02 • VERI VE YÖNTEM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Adım 1 — Log Ayrıştırma: Drain Algoritması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6035040" cy="2651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4E5A68"/>
                </a:solidFill>
                <a:latin typeface="Calibri"/>
              </a:rPr>
              <a:t>•  Ham log satırları yapısal değildir → doğrudan model girdisi olamaz; her satır sabit bir mesaj şablonuna dönüştürülür.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4E5A68"/>
                </a:solidFill>
                <a:latin typeface="Calibri"/>
              </a:rPr>
              <a:t>•  Drain (He vd., 2017): çevrimiçi çalışan, hesaplama verimliliği yüksek bir ayrıştırıcı — sabit derinlikli ağaçta uzunluk gruplaması + token benzerliğine göre yönlendirme.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0" i="0">
                <a:solidFill>
                  <a:srgbClr val="4E5A68"/>
                </a:solidFill>
                <a:latin typeface="Calibri"/>
              </a:rPr>
              <a:t>•  Birbirine benzer her satır grubuna benzersiz bir event_id atanır (bu çalışmada 5.000 farklı olay tipi).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06240"/>
            <a:ext cx="6035040" cy="19202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370832"/>
            <a:ext cx="5577840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ÖRNEK DÖNÜŞÜM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4E5A68"/>
                </a:solidFill>
                <a:latin typeface="Consolas"/>
              </a:rPr>
              <a:t>“cpu 3 temperature 87C exceeds threshold”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B5A6"/>
                </a:solidFill>
                <a:latin typeface="Calibri"/>
              </a:rPr>
              <a:t>↓  </a:t>
            </a:r>
            <a:r>
              <a:rPr sz="1250" b="1" i="0">
                <a:solidFill>
                  <a:srgbClr val="0F2B46"/>
                </a:solidFill>
                <a:latin typeface="Consolas"/>
              </a:rPr>
              <a:t>cpu &lt;ID&gt; temperature &lt;N&gt; exceeds threshold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086600" y="1463040"/>
          <a:ext cx="448056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65960"/>
                <a:gridCol w="777240"/>
                <a:gridCol w="173736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Açıklama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similarity_threshold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0,5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Log–şablon benzerlik eşiği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depth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Ağaç derinliği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max_children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100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Düğüm başına maks. çocuk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max_log_len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128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Mesaj başına maks. token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7086600" y="3977639"/>
            <a:ext cx="4480560" cy="2148840"/>
          </a:xfrm>
          <a:prstGeom prst="round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4160520"/>
            <a:ext cx="402336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0F2B46"/>
                </a:solidFill>
                <a:latin typeface="Consolas"/>
              </a:rPr>
              <a:t>ÇIKTI: data/parsed.csv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 i="0">
                <a:solidFill>
                  <a:srgbClr val="4E5A68"/>
                </a:solidFill>
                <a:latin typeface="Calibri"/>
              </a:rPr>
              <a:t>timestamp (ms) · ikili is_alert · event_id (1–5.000) · template metni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0B867B"/>
                </a:solidFill>
                <a:latin typeface="Calibri"/>
              </a:rPr>
              <a:t>→ Yapılandırılmış olay akışı, bir sonraki adımın girdisi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02 • VERI VE YÖNTEM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Adım 2 — Kayan Pencere ve Öznitelik Çıkarımı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463040"/>
          <a:ext cx="512064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731520"/>
                <a:gridCol w="22860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Parametre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Açıklama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window_seconds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Pencere genişliği (15 dk)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step_seconds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Kaydırma adımı (örtüşmesiz)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horizon_seconds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900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Arıza tahmin ufku (15 dk)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max_seq_len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90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Pencere başına maks. olay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2B46"/>
                          </a:solidFill>
                          <a:latin typeface="Calibri"/>
                        </a:rPr>
                        <a:t>min_events_per_window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4E5A68"/>
                          </a:solidFill>
                          <a:latin typeface="Calibri"/>
                        </a:rPr>
                        <a:t>Altındaki pencereler dışlanır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417320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867B"/>
                </a:solidFill>
                <a:latin typeface="Calibri"/>
              </a:rPr>
              <a:t>HER PENCERE İÇİN ÇIKARILAN ÖZNİTELİKLER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5303520" cy="713232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938527"/>
            <a:ext cx="4983480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F2B46"/>
                </a:solidFill>
                <a:latin typeface="Calibri"/>
              </a:rPr>
              <a:t>Frekans histogramı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5A68"/>
                </a:solidFill>
                <a:latin typeface="Calibri"/>
              </a:rPr>
              <a:t>her event_id'nin göreli sıklığı (5.002 boyut)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715768"/>
            <a:ext cx="5303520" cy="713232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2779775"/>
            <a:ext cx="4983480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F2B46"/>
                </a:solidFill>
                <a:latin typeface="Calibri"/>
              </a:rPr>
              <a:t>Meta öznitelikler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5A68"/>
                </a:solidFill>
                <a:latin typeface="Calibri"/>
              </a:rPr>
              <a:t>alert oranı · benzersiz olay sayısı · sekans uzunluğu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557015"/>
            <a:ext cx="5303520" cy="713232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621023"/>
            <a:ext cx="4983480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F2B46"/>
                </a:solidFill>
                <a:latin typeface="Calibri"/>
              </a:rPr>
              <a:t>Yoğunlaşma ölçüleri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5A68"/>
                </a:solidFill>
                <a:latin typeface="Calibri"/>
              </a:rPr>
              <a:t>top-10 concentration · maks. tek olay frekansı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398264"/>
            <a:ext cx="5303520" cy="713232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462272"/>
            <a:ext cx="4983480" cy="58521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1" i="0">
                <a:solidFill>
                  <a:srgbClr val="0F2B46"/>
                </a:solidFill>
                <a:latin typeface="Calibri"/>
              </a:rPr>
              <a:t>Shannon entropisi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5A68"/>
                </a:solidFill>
                <a:latin typeface="Calibri"/>
              </a:rPr>
              <a:t>H = −Σ p·log₂(p) — olay dağılımının belirsizliği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32120"/>
            <a:ext cx="10817352" cy="777240"/>
          </a:xfrm>
          <a:prstGeom prst="round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605272"/>
            <a:ext cx="10332720" cy="64008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B5A6"/>
                </a:solidFill>
                <a:latin typeface="Calibri"/>
              </a:rPr>
              <a:t>ETİKET: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Pencere kapanışını izleyen 15 dk içinde ≥ 1 alert → 1 , aksi hâlde → 0</a:t>
            </a:r>
            <a:r>
              <a:rPr sz="1250" b="0" i="1">
                <a:solidFill>
                  <a:srgbClr val="A9C2D4"/>
                </a:solidFill>
                <a:latin typeface="Calibri"/>
              </a:rPr>
              <a:t>     “Önümüzdeki çeyrek saatte arıza olacak mı?”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02 • VERI VE YÖNTEM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Verinin Gerçeği: Ciddi Sınıf Dengesizliği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5577840" cy="13258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600200"/>
            <a:ext cx="64008" cy="132588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655064"/>
            <a:ext cx="5285231" cy="12161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2B46"/>
                </a:solidFill>
                <a:latin typeface="Calibri"/>
              </a:rPr>
              <a:t>5.957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toplam pencere (≥ 3 olay)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36391"/>
            <a:ext cx="5577840" cy="13258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136391"/>
            <a:ext cx="64008" cy="1325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3191256"/>
            <a:ext cx="5285231" cy="12161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2B46"/>
                </a:solidFill>
                <a:latin typeface="Calibri"/>
              </a:rPr>
              <a:t>267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pozitif pencere (%4,48)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672583"/>
            <a:ext cx="5577840" cy="13258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77240" y="4672583"/>
            <a:ext cx="64008" cy="1325880"/>
          </a:xfrm>
          <a:prstGeom prst="rect">
            <a:avLst/>
          </a:prstGeom>
          <a:solidFill>
            <a:srgbClr val="DD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727447"/>
            <a:ext cx="5285231" cy="121615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F2B46"/>
                </a:solidFill>
                <a:latin typeface="Calibri"/>
              </a:rPr>
              <a:t>22 / 1.192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E5A68"/>
                </a:solidFill>
                <a:latin typeface="Calibri"/>
              </a:rPr>
              <a:t>test bölmesindeki pozitifler (%1,85)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6949440" y="1463040"/>
          <a:ext cx="4572000" cy="40233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777240" y="5623560"/>
            <a:ext cx="10725912" cy="640080"/>
          </a:xfrm>
          <a:prstGeom prst="round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669280"/>
            <a:ext cx="10241280" cy="5486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2B46"/>
                </a:solidFill>
                <a:latin typeface="Calibri"/>
              </a:rPr>
              <a:t>Sonuç: Hem gözetimsiz skorların hem de denetimli modellerin davranışını belirleyen ana etken, pozitif örneklerin nadirliği.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03 •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Adım 3 — Isolation Forest: Anomalileri İzole Etmek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6126480" cy="3017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B867B"/>
                </a:solidFill>
                <a:latin typeface="Calibri"/>
              </a:rPr>
              <a:t>TEMEL İLKE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350" b="0" i="0">
                <a:solidFill>
                  <a:srgbClr val="4E5A68"/>
                </a:solidFill>
                <a:latin typeface="Calibri"/>
              </a:rPr>
              <a:t>Anomaliler azınlıktadır ve öznitelik uzayında uzaktadır → rastgele bölmelerle daha az adımda izole edilirler (kısa yol uzunluğu = anomali).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B867B"/>
                </a:solidFill>
                <a:latin typeface="Calibri"/>
              </a:rPr>
              <a:t>NASIL ÇALIŞIR?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4E5A68"/>
                </a:solidFill>
                <a:latin typeface="Calibri"/>
              </a:rPr>
              <a:t>•  iTree: rastgele öznitelik + rastgele bölme değeriyle ikili ağaçlar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4E5A68"/>
                </a:solidFill>
                <a:latin typeface="Calibri"/>
              </a:rPr>
              <a:t>•  Skor: ağaçlar arası ortalama yol uzunluğundan hesaplanır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34840"/>
            <a:ext cx="6126480" cy="777240"/>
          </a:xfrm>
          <a:prstGeom prst="round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5669280" cy="6583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nsolas"/>
              </a:rPr>
              <a:t>s(x) = 2</a:t>
            </a:r>
            <a:r>
              <a:rPr sz="1100" b="1" i="0">
                <a:solidFill>
                  <a:srgbClr val="0FB5A6"/>
                </a:solidFill>
                <a:latin typeface="Consolas"/>
              </a:rPr>
              <a:t>−E[h(x)]/c(n)</a:t>
            </a:r>
            <a:r>
              <a:rPr sz="1200" b="0" i="0">
                <a:solidFill>
                  <a:srgbClr val="A9C2D4"/>
                </a:solidFill>
                <a:latin typeface="Calibri"/>
              </a:rPr>
              <a:t>      skor → 1 : anomali   ·   &lt; 0,5 : 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371600"/>
            <a:ext cx="420624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B867B"/>
                </a:solidFill>
                <a:latin typeface="Calibri"/>
              </a:rPr>
              <a:t>NEDEN ISOLATION FOREST?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1417320"/>
            <a:ext cx="4206240" cy="841248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79" y="1472184"/>
            <a:ext cx="38404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B5A6"/>
                </a:solidFill>
                <a:latin typeface="Calibri"/>
              </a:rPr>
              <a:t>✓  </a:t>
            </a:r>
            <a:r>
              <a:rPr sz="1200" b="1" i="0">
                <a:solidFill>
                  <a:srgbClr val="0F2B46"/>
                </a:solidFill>
                <a:latin typeface="Calibri"/>
              </a:rPr>
              <a:t>Etiket gereksinimi yok — yeni sistemlere taşınabilir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386584"/>
            <a:ext cx="4206240" cy="841248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2441448"/>
            <a:ext cx="38404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B5A6"/>
                </a:solidFill>
                <a:latin typeface="Calibri"/>
              </a:rPr>
              <a:t>✓  </a:t>
            </a:r>
            <a:r>
              <a:rPr sz="1200" b="1" i="0">
                <a:solidFill>
                  <a:srgbClr val="0F2B46"/>
                </a:solidFill>
                <a:latin typeface="Calibri"/>
              </a:rPr>
              <a:t>Yüksek boyutlu ve seyrek vektörlerde verimli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3355848"/>
            <a:ext cx="4206240" cy="841248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3410712"/>
            <a:ext cx="38404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B5A6"/>
                </a:solidFill>
                <a:latin typeface="Calibri"/>
              </a:rPr>
              <a:t>✓  </a:t>
            </a:r>
            <a:r>
              <a:rPr sz="1200" b="1" i="0">
                <a:solidFill>
                  <a:srgbClr val="0F2B46"/>
                </a:solidFill>
                <a:latin typeface="Calibri"/>
              </a:rPr>
              <a:t>Doğrusal olmayan ilişkileri yakalar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0" y="4325112"/>
            <a:ext cx="4206240" cy="841248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379976"/>
            <a:ext cx="384048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B5A6"/>
                </a:solidFill>
                <a:latin typeface="Calibri"/>
              </a:rPr>
              <a:t>✓  </a:t>
            </a:r>
            <a:r>
              <a:rPr sz="1200" b="1" i="0">
                <a:solidFill>
                  <a:srgbClr val="0F2B46"/>
                </a:solidFill>
                <a:latin typeface="Calibri"/>
              </a:rPr>
              <a:t>Paralel hesaplamaya elverişli (n_jobs = −1)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5394960"/>
            <a:ext cx="4206240" cy="868680"/>
          </a:xfrm>
          <a:prstGeom prst="round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43800" y="5468112"/>
            <a:ext cx="3749039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F2B46"/>
                </a:solidFill>
                <a:latin typeface="Consolas"/>
              </a:rPr>
              <a:t>contamination = 0,06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E5A68"/>
                </a:solidFill>
                <a:latin typeface="Calibri"/>
              </a:rPr>
              <a:t>veride beklenen anomali oranı → karar eşiği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03 •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Eğitim Kurulumu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17320"/>
            <a:ext cx="5943600" cy="42062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1" i="0">
                <a:solidFill>
                  <a:srgbClr val="0B867B"/>
                </a:solidFill>
                <a:latin typeface="Calibri"/>
              </a:rPr>
              <a:t>VERİ BÖLMELEME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E5A68"/>
                </a:solidFill>
                <a:latin typeface="Calibri"/>
              </a:rPr>
              <a:t>•  Zaman serisi → ayrım kronolojik; shuffle bilinçli olarak uygulanmadı.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E5A68"/>
                </a:solidFill>
                <a:latin typeface="Calibri"/>
              </a:rPr>
              <a:t>•  İlk %80 (4.765 pencere) eğitim, son %20 (1.192 pencere) test.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1200" b="1" i="0">
                <a:solidFill>
                  <a:srgbClr val="0B867B"/>
                </a:solidFill>
                <a:latin typeface="Calibri"/>
              </a:rPr>
              <a:t>ÖLÇEKLENDİRME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E5A68"/>
                </a:solidFill>
                <a:latin typeface="Calibri"/>
              </a:rPr>
              <a:t>•  Öznitelikler farklı ölçeklerde (frekans 0–1, olay sayısı yüzlerce) → StandardScaler (ort. 0, std 1).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50" b="0" i="0">
                <a:solidFill>
                  <a:srgbClr val="4E5A68"/>
                </a:solidFill>
                <a:latin typeface="Calibri"/>
              </a:rPr>
              <a:t>•  Scaler yalnızca eğitim bölmesinde fit edildi; aynı dönüşüm test'e uygulandı (bilgi sızıntısı yok).</a:t>
            </a:r>
          </a:p>
          <a:p>
            <a:pPr algn="l">
              <a:spcBef>
                <a:spcPts val="1000"/>
              </a:spcBef>
              <a:spcAft>
                <a:spcPts val="800"/>
              </a:spcAft>
            </a:pPr>
            <a:r>
              <a:rPr sz="1200" b="1" i="0">
                <a:solidFill>
                  <a:srgbClr val="0B867B"/>
                </a:solidFill>
                <a:latin typeface="Calibri"/>
              </a:rPr>
              <a:t>ÇIKTI DÖNÜŞÜMÜ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E5A68"/>
                </a:solidFill>
                <a:latin typeface="Calibri"/>
              </a:rPr>
              <a:t>•  predict çıktısı: −1 (anomali) → 1 , 1 (normal) → 0 olarak gerçek etiketlerle karşılaştırılabilir hâle getirildi.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95160" y="1554480"/>
          <a:ext cx="4572000" cy="24140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143000"/>
                <a:gridCol w="17373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Hiperparametre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Açıklama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n_estimators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200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Ağaç sayısı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contamination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0,06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Beklenen anomali oranı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max_samples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auto (256)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Ağaç başına alt örneklem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random_state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42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Tekrarlanabilirlik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n_jobs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-1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Tüm CPU çekirdekleri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995160" y="4434840"/>
            <a:ext cx="4572000" cy="118872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4572000"/>
            <a:ext cx="4114800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UYGULAMA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A68"/>
                </a:solidFill>
                <a:latin typeface="Calibri"/>
              </a:rPr>
              <a:t>scikit-learn IsolationForest  •  Python sanal ortamı  •  pandas / numpy / pyyaml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04 • BULGULAR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Deneysel Sonuçlar — Isolation Forest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08760"/>
          <a:ext cx="429768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155448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Metrik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Değer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Accuracy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4E5A68"/>
                          </a:solidFill>
                          <a:latin typeface="Calibri"/>
                        </a:rPr>
                        <a:t>%97,06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Precision (anomali)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4E5A68"/>
                          </a:solidFill>
                          <a:latin typeface="Calibri"/>
                        </a:rPr>
                        <a:t>0,24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Recall (anomali)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4E5A68"/>
                          </a:solidFill>
                          <a:latin typeface="Calibri"/>
                        </a:rPr>
                        <a:t>0,27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F1-skoru (anomali)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4E5A68"/>
                          </a:solidFill>
                          <a:latin typeface="Calibri"/>
                        </a:rPr>
                        <a:t>0,26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0,81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F2B46"/>
                          </a:solidFill>
                          <a:latin typeface="Calibri"/>
                        </a:rPr>
                        <a:t>Tahmin / gerçek anomali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0">
                          <a:solidFill>
                            <a:srgbClr val="4E5A68"/>
                          </a:solidFill>
                          <a:latin typeface="Calibri"/>
                        </a:rPr>
                        <a:t>25 / 1192  ·  22 / 1192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85800" y="4617720"/>
            <a:ext cx="429768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0F2B46"/>
                </a:solidFill>
                <a:latin typeface="Calibri"/>
              </a:rPr>
              <a:t>ROC-AUC 0,81 → anomali skorları, pozitif pencereleri normal pencerelerden belirgin biçimde ayırt edebiliyor.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A68"/>
                </a:solidFill>
                <a:latin typeface="Calibri"/>
              </a:rPr>
              <a:t>Model hiçbir etiket görmedi; yalnızca “normalin” istatistiğini öğrendi.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577840" y="1508760"/>
          <a:ext cx="5852160" cy="1207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1097280"/>
                <a:gridCol w="1097280"/>
                <a:gridCol w="914400"/>
                <a:gridCol w="12801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Sınıf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Destek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Calibri"/>
                        </a:rPr>
                        <a:t>Normal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E5A68"/>
                          </a:solidFill>
                          <a:latin typeface="Calibri"/>
                        </a:rPr>
                        <a:t>0,99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E5A68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E5A68"/>
                          </a:solidFill>
                          <a:latin typeface="Calibri"/>
                        </a:rPr>
                        <a:t>0,99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E5A68"/>
                          </a:solidFill>
                          <a:latin typeface="Calibri"/>
                        </a:rPr>
                        <a:t>1.170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Calibri"/>
                        </a:rPr>
                        <a:t>Anomali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F2B46"/>
                          </a:solidFill>
                          <a:latin typeface="Calibri"/>
                        </a:rPr>
                        <a:t>0,24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F2B46"/>
                          </a:solidFill>
                          <a:latin typeface="Calibri"/>
                        </a:rPr>
                        <a:t>0,27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F2B46"/>
                          </a:solidFill>
                          <a:latin typeface="Calibri"/>
                        </a:rPr>
                        <a:t>0,26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0F2B46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577840" y="3200400"/>
            <a:ext cx="5852160" cy="28803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3401568"/>
            <a:ext cx="5349240" cy="2560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1" i="0">
                <a:solidFill>
                  <a:srgbClr val="0B867B"/>
                </a:solidFill>
                <a:latin typeface="Calibri"/>
              </a:rPr>
              <a:t>SONUÇLARI BAĞLAMDA OKUMAK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•  Düşük precision (0,24): %1,85'lik pozitif oran + gözetimsiz paradigmanın doğal sonucu — model “arıza gerçekleşecek pencere”yi değil, “istatistiksel olarak sıra dışı pencere”yi işaretler.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•  %97,1 doğruluk büyük ölçüde çoğunluk sınıfından gelir; asıl başarı göstergesi skorların ayrıştırıcılığıdır (AUC).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•  Erken uyarı senaryosunda hedef metrik recall'dur — bkz. sonraki slayt.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04 • BULGULAR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Operasyonel Ayar: Eşik ve Pencere Genişliği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63040"/>
            <a:ext cx="5303520" cy="46634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645920"/>
            <a:ext cx="475488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867B"/>
                </a:solidFill>
                <a:latin typeface="Calibri"/>
              </a:rPr>
              <a:t>EŞİK SÜPÜRME ANALİZİ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60120" y="2194560"/>
          <a:ext cx="4754880" cy="1152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46304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Karar Eşiği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Alarm Oranı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Calibri"/>
                        </a:rPr>
                        <a:t>0,2938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E5A68"/>
                          </a:solidFill>
                          <a:latin typeface="Calibri"/>
                        </a:rPr>
                        <a:t>%100,0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E5A68"/>
                          </a:solidFill>
                          <a:latin typeface="Calibri"/>
                        </a:rPr>
                        <a:t>%100,0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F2B46"/>
                          </a:solidFill>
                          <a:latin typeface="Calibri"/>
                        </a:rPr>
                        <a:t>0,2940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E5A68"/>
                          </a:solidFill>
                          <a:latin typeface="Calibri"/>
                        </a:rPr>
                        <a:t>%90,9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4E5A68"/>
                          </a:solidFill>
                          <a:latin typeface="Calibri"/>
                        </a:rPr>
                        <a:t>%52,7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60120" y="3520440"/>
            <a:ext cx="4754880" cy="23774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•  Eşiğin hafif yükseltilmesi, üretilen alarm sayısını yarıya indirirken recall'u %91'te tutuyor.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•  Eşik, operasyonel tercihe göre kalibre edilebilir: kaçırma maliyeti &gt; yanlış alarm maliyeti olan erken uyarı sistemlerinde yüksek recall tercih edilir.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463040"/>
            <a:ext cx="5303520" cy="466344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45920"/>
            <a:ext cx="475488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867B"/>
                </a:solidFill>
                <a:latin typeface="Calibri"/>
              </a:rPr>
              <a:t>PENCERE GENİŞLİĞİ ÖDÜNLEŞİMİ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2240280"/>
            <a:ext cx="4754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960" y="2240280"/>
            <a:ext cx="8229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313432"/>
            <a:ext cx="43891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B46"/>
                </a:solidFill>
                <a:latin typeface="Calibri"/>
              </a:rPr>
              <a:t>30 dk   </a:t>
            </a:r>
            <a:r>
              <a:rPr sz="1300" b="0" i="0">
                <a:solidFill>
                  <a:srgbClr val="4E5A68"/>
                </a:solidFill>
                <a:latin typeface="Calibri"/>
              </a:rPr>
              <a:t>ROC-AUC 0,80</a:t>
            </a:r>
            <a:r>
              <a:rPr sz="1300" b="0" i="0">
                <a:solidFill>
                  <a:srgbClr val="D8E0E8"/>
                </a:solidFill>
                <a:latin typeface="Calibri"/>
              </a:rPr>
              <a:t>   ·   </a:t>
            </a:r>
            <a:r>
              <a:rPr sz="1300" b="1" i="0">
                <a:solidFill>
                  <a:srgbClr val="F59E0B"/>
                </a:solidFill>
                <a:latin typeface="Calibri"/>
              </a:rPr>
              <a:t>Recall %57,7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37960" y="3264408"/>
            <a:ext cx="47548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3264408"/>
            <a:ext cx="82296" cy="86868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337560"/>
            <a:ext cx="4389120" cy="73152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F2B46"/>
                </a:solidFill>
                <a:latin typeface="Calibri"/>
              </a:rPr>
              <a:t>15 dk   </a:t>
            </a:r>
            <a:r>
              <a:rPr sz="1300" b="0" i="0">
                <a:solidFill>
                  <a:srgbClr val="4E5A68"/>
                </a:solidFill>
                <a:latin typeface="Calibri"/>
              </a:rPr>
              <a:t>ROC-AUC 0,81</a:t>
            </a:r>
            <a:r>
              <a:rPr sz="1300" b="0" i="0">
                <a:solidFill>
                  <a:srgbClr val="D8E0E8"/>
                </a:solidFill>
                <a:latin typeface="Calibri"/>
              </a:rPr>
              <a:t>   ·   </a:t>
            </a:r>
            <a:r>
              <a:rPr sz="1300" b="1" i="0">
                <a:solidFill>
                  <a:srgbClr val="0FB5A6"/>
                </a:solidFill>
                <a:latin typeface="Calibri"/>
              </a:rPr>
              <a:t>Recall %27,3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434840"/>
            <a:ext cx="4754880" cy="1554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•  Kısa pencere: skoru dar ufka sıkıştırır → ayırt edicilik ↑, ancak pozitif örnek azalır → duyarlılık ↓.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•  Pencere genişliği, uygulama hedefine göre yapılması gereken kritik bir tasarım kararıdır.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05 • KARŞILAŞTIRMALI ANALIZ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Karşılaştırma: Denetimli BiLSTM Modelleri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1554480"/>
          <a:ext cx="576072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1051560"/>
                <a:gridCol w="960120"/>
                <a:gridCol w="9144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150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73152" marR="73152" marT="9144" marB="9144" anchor="ctr">
                    <a:solidFill>
                      <a:srgbClr val="0F2B4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BiLSTM (CrossEntropy)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0,44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BiLSTM (BCEWithLogitsLoss)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0,71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9144" marB="9144" anchor="ctr">
                    <a:solidFill>
                      <a:srgbClr val="F3F6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BiLSTM (Focal Loss)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0,37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0">
                          <a:solidFill>
                            <a:srgbClr val="4E5A68"/>
                          </a:solidFill>
                          <a:latin typeface="Calibri"/>
                        </a:rPr>
                        <a:t>0,00</a:t>
                      </a:r>
                    </a:p>
                  </a:txBody>
                  <a:tcPr marL="73152" marR="73152" marT="9144" marB="9144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Isolation Forest (gözetimsiz)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0,81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0,24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>
                          <a:solidFill>
                            <a:srgbClr val="0F2B46"/>
                          </a:solidFill>
                          <a:latin typeface="Calibri"/>
                        </a:rPr>
                        <a:t>0,26</a:t>
                      </a:r>
                    </a:p>
                  </a:txBody>
                  <a:tcPr marL="73152" marR="73152" marT="9144" marB="9144" anchor="ctr">
                    <a:solidFill>
                      <a:srgbClr val="E0F5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675120" y="1417320"/>
          <a:ext cx="489204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85800" y="4343400"/>
            <a:ext cx="5760720" cy="178308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98848"/>
            <a:ext cx="5303520" cy="1554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0B867B"/>
                </a:solidFill>
                <a:latin typeface="Calibri"/>
              </a:rPr>
              <a:t>MODEL: LOGROBUST (Zhang vd., 2019)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E5A68"/>
                </a:solidFill>
                <a:latin typeface="Calibri"/>
              </a:rPr>
              <a:t>BiLSTM + Multi-Head Attention  •  hidden 256, 2 katman, 4 head  •  30 epoch, batch 128, erken durdurma (config.yaml)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4892040"/>
            <a:ext cx="4892040" cy="1234440"/>
          </a:xfrm>
          <a:prstGeom prst="round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4983480"/>
            <a:ext cx="4389120" cy="105156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Hiçbir BiLSTM konfigürasyonu pozitif örnekleri yakalayamadı (P = F1 = 0,00). En iyi sıralama bile (BCE, 0,71) Isolation Forest'ın gerisinde kaldı.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05 • KARŞILAŞTIRMALI ANALIZ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Denetimli Modeller Neden Başarısız Oldu?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3593592" cy="35661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1554480"/>
            <a:ext cx="3593592" cy="128016"/>
          </a:xfrm>
          <a:prstGeom prst="roundRect">
            <a:avLst/>
          </a:prstGeom>
          <a:solidFill>
            <a:srgbClr val="DD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" y="1874519"/>
            <a:ext cx="502920" cy="502920"/>
          </a:xfrm>
          <a:prstGeom prst="ellipse">
            <a:avLst/>
          </a:prstGeom>
          <a:solidFill>
            <a:srgbClr val="DD54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60320"/>
            <a:ext cx="3154680" cy="2468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0F2B46"/>
                </a:solidFill>
                <a:latin typeface="Calibri"/>
              </a:rPr>
              <a:t>AŞIRI SINIF DENGESİZLİĞİ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A68"/>
                </a:solidFill>
                <a:latin typeface="Calibri"/>
              </a:rPr>
              <a:t>Test bölmesinde pozitif oran %1,85. Derin mimariler dengeli ve geniş pozitif kümelere ihtiyaç duyar; yoksa çoğunluk sınıfını tahmin etmeyi “öğrenir”.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35424" y="1554480"/>
            <a:ext cx="3593592" cy="35661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35424" y="1554480"/>
            <a:ext cx="3593592" cy="128016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91456" y="1874519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560320"/>
            <a:ext cx="3154680" cy="2468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0F2B46"/>
                </a:solidFill>
                <a:latin typeface="Calibri"/>
              </a:rPr>
              <a:t>PARAMETRE HACMİ &gt;&gt; VERİ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A68"/>
                </a:solidFill>
                <a:latin typeface="Calibri"/>
              </a:rPr>
              <a:t>Multi-head attention'lı BiLSTM yüksek sayıda parametre içerir. 4.765 pencerelik eğitim kümesi yetersiz kalır → overfitting / underfitting riski.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85048" y="1554480"/>
            <a:ext cx="3593592" cy="35661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85048" y="1554480"/>
            <a:ext cx="3593592" cy="128016"/>
          </a:xfrm>
          <a:prstGeom prst="roundRect">
            <a:avLst/>
          </a:prstGeom>
          <a:solidFill>
            <a:srgbClr val="1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41080" y="1874519"/>
            <a:ext cx="502920" cy="502920"/>
          </a:xfrm>
          <a:prstGeom prst="ellipse">
            <a:avLst/>
          </a:prstGeom>
          <a:solidFill>
            <a:srgbClr val="1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560320"/>
            <a:ext cx="3154680" cy="2468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0F2B46"/>
                </a:solidFill>
                <a:latin typeface="Calibri"/>
              </a:rPr>
              <a:t>KAYIP FONKSİYONU KALİBRASYONU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E5A68"/>
                </a:solidFill>
                <a:latin typeface="Calibri"/>
              </a:rPr>
              <a:t>BCE'de gradyan çoğunluk sınıfınca baskılanır; Focal Loss'un gamma / alpha parametreleri kalibre edilemedi → AUC 0,37, rastgele tahminin (0,50) altında.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440680"/>
            <a:ext cx="10817352" cy="777240"/>
          </a:xfrm>
          <a:prstGeom prst="roundRect">
            <a:avLst/>
          </a:prstGeom>
          <a:solidFill>
            <a:srgbClr val="E0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504688"/>
            <a:ext cx="10332720" cy="65836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2B46"/>
                </a:solidFill>
                <a:latin typeface="Calibri"/>
              </a:rPr>
              <a:t>Önemli nüans: Başarısızlığın sebebi denetimli yöntemin doğası değil — veri hacmi, dengesizlik ve kalibrasyon koşulları. Uygun örnekleme + eşik kalibrasyonuyla başarım artırılabilir.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06 • KAPANIŞ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Sonuç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508760"/>
            <a:ext cx="1060704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1792224"/>
            <a:ext cx="475488" cy="475488"/>
          </a:xfrm>
          <a:prstGeom prst="ellipse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581912"/>
            <a:ext cx="950976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Calibri"/>
              </a:rPr>
              <a:t>Uçtan uca gözetimsiz hat   </a:t>
            </a:r>
            <a:r>
              <a:rPr sz="1250" b="0" i="0">
                <a:solidFill>
                  <a:srgbClr val="4E5A68"/>
                </a:solidFill>
                <a:latin typeface="Calibri"/>
              </a:rPr>
              <a:t>Drain → 15 dk kayan pencere → 5.008 boyutlu öznitelik → Isolation Forest; tamamen tekrarlanabilir (random_state=42).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97480"/>
            <a:ext cx="106070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2980944"/>
            <a:ext cx="475488" cy="475488"/>
          </a:xfrm>
          <a:prstGeom prst="ellipse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2770632"/>
            <a:ext cx="950976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Calibri"/>
              </a:rPr>
              <a:t>Etiketsiz öğrenme çalışıyor   </a:t>
            </a:r>
            <a:r>
              <a:rPr sz="1250" b="0" i="0">
                <a:solidFill>
                  <a:srgbClr val="4E5A68"/>
                </a:solidFill>
                <a:latin typeface="Calibri"/>
              </a:rPr>
              <a:t>Hiçbir arıza etiketi görmeden ROC-AUC 0,81 — gerçek alert pencerelerinin önemli bölümünü yakalar; etiket maliyeti sıfır.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886200"/>
            <a:ext cx="10607040" cy="105156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4169663"/>
            <a:ext cx="475488" cy="475488"/>
          </a:xfrm>
          <a:prstGeom prst="ellipse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959352"/>
            <a:ext cx="950976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Calibri"/>
              </a:rPr>
              <a:t>Gözetimsiz &gt; denetimli (bu koşullarda)   </a:t>
            </a:r>
            <a:r>
              <a:rPr sz="1250" b="0" i="0">
                <a:solidFill>
                  <a:srgbClr val="4E5A68"/>
                </a:solidFill>
                <a:latin typeface="Calibri"/>
              </a:rPr>
              <a:t>Aynı veride BiLSTM tabanlı modeller kullanılabilir başarım gösteremedi → gözetimsiz yaklaşım daha güvenilir temel (baseline).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74920"/>
            <a:ext cx="1060704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5358383"/>
            <a:ext cx="475488" cy="475488"/>
          </a:xfrm>
          <a:prstGeom prst="ellipse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148072"/>
            <a:ext cx="9509760" cy="9144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2B46"/>
                </a:solidFill>
                <a:latin typeface="Calibri"/>
              </a:rPr>
              <a:t>Operasyonel esneklik   </a:t>
            </a:r>
            <a:r>
              <a:rPr sz="1250" b="0" i="0">
                <a:solidFill>
                  <a:srgbClr val="4E5A68"/>
                </a:solidFill>
                <a:latin typeface="Calibri"/>
              </a:rPr>
              <a:t>Eşik ayarıyla recall-precision tercihi kalibre edilebilir; pencere genişliği kritik tasarım kararı.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29184"/>
            <a:ext cx="82296" cy="676656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7899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B867B"/>
                </a:solidFill>
                <a:latin typeface="Calibri"/>
              </a:rPr>
              <a:t>06 • KAPANIŞ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10789920" cy="502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0F2B46"/>
                </a:solidFill>
                <a:latin typeface="Calibri"/>
              </a:rPr>
              <a:t>Gelecek Çalışmalar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46520"/>
            <a:ext cx="11185855" cy="12801"/>
          </a:xfrm>
          <a:prstGeom prst="rect">
            <a:avLst/>
          </a:prstGeom>
          <a:solidFill>
            <a:srgbClr val="D8E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86868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4E5A68"/>
                </a:solidFill>
                <a:latin typeface="Calibri"/>
              </a:rPr>
              <a:t>softITo Yazılım Bilişim Akademisi  •  Veri Analitiği Bireysel Proje  •  Selçuk Sezer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92240"/>
            <a:ext cx="82296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E5A68"/>
                </a:solidFill>
                <a:latin typeface="Calibr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4480"/>
            <a:ext cx="5257800" cy="20574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755648"/>
            <a:ext cx="11887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FB5A6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83080"/>
            <a:ext cx="3749039" cy="1691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2B46"/>
                </a:solidFill>
                <a:latin typeface="Calibri"/>
              </a:rPr>
              <a:t>Dinamik contamination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Parametrenin zaman içindeki anomali oranına göre otomatik belirlenmesi.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54480"/>
            <a:ext cx="5257800" cy="20574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755648"/>
            <a:ext cx="11887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59E0B"/>
                </a:solidFill>
                <a:latin typeface="Consola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1783080"/>
            <a:ext cx="3749039" cy="1691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2B46"/>
                </a:solidFill>
                <a:latin typeface="Calibri"/>
              </a:rPr>
              <a:t>Zamansal trend öznitelikleri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Pencereler arası eğilim bilgisinin meta özniteliklere eklenmesi.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40480"/>
            <a:ext cx="5257800" cy="20574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041648"/>
            <a:ext cx="11887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A3E63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4069080"/>
            <a:ext cx="3749039" cy="1691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2B46"/>
                </a:solidFill>
                <a:latin typeface="Calibri"/>
              </a:rPr>
              <a:t>Denetimli modellerin rövanşı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SMOTE / ağırlıklı örnekleme + eşik kalibrasyonu ile BiLSTM'lerin yeniden değerlendirilmesi.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840480"/>
            <a:ext cx="5257800" cy="2057400"/>
          </a:xfrm>
          <a:prstGeom prst="roundRect">
            <a:avLst/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4041648"/>
            <a:ext cx="118872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DD5454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4069080"/>
            <a:ext cx="3749039" cy="1691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2B46"/>
                </a:solidFill>
                <a:latin typeface="Calibri"/>
              </a:rPr>
              <a:t>Hibrit (ensemble) mimari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E5A68"/>
                </a:solidFill>
                <a:latin typeface="Calibri"/>
              </a:rPr>
              <a:t>Gözetimsiz IF + yeniden kalibre edilmiş denetimli modellerin birlikte kullanımı.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1645920" y="-1645920"/>
            <a:ext cx="4206240" cy="4206240"/>
          </a:xfrm>
          <a:prstGeom prst="roundRect">
            <a:avLst/>
          </a:prstGeom>
          <a:solidFill>
            <a:srgbClr val="1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424160" y="4754880"/>
            <a:ext cx="3291840" cy="3291840"/>
          </a:xfrm>
          <a:prstGeom prst="roundRect">
            <a:avLst/>
          </a:prstGeom>
          <a:solidFill>
            <a:srgbClr val="1A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2148840"/>
            <a:ext cx="1005840" cy="68580"/>
          </a:xfrm>
          <a:prstGeom prst="rect">
            <a:avLst/>
          </a:prstGeom>
          <a:solidFill>
            <a:srgbClr val="0FB5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Teşekkürler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FD9CE"/>
                </a:solidFill>
                <a:latin typeface="Calibri"/>
              </a:rPr>
              <a:t>Sorular ve Tartışma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97680"/>
            <a:ext cx="4754880" cy="10972"/>
          </a:xfrm>
          <a:prstGeom prst="rect">
            <a:avLst/>
          </a:prstGeom>
          <a:solidFill>
            <a:srgbClr val="2E53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A9C2D4"/>
                </a:solidFill>
                <a:latin typeface="Calibri"/>
              </a:rPr>
              <a:t>Sunucu Log Kayıtlarında Sistem Arızası Tespiti — Isolation Forest ile Gözetimsiz Anomali Tespiti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9C2D4"/>
                </a:solidFill>
                <a:latin typeface="Calibri"/>
              </a:rPr>
              <a:t>Selçuk Sezer  •  softITo Yazılım Bilişim Akademisi  •  İstanbul, Ağustos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Sunucu Log Kayıtlarında Sistem Arızası Tespiti</dc:title>
  <dc:subject>Isolation Forest ile Gözetimsiz Anomali Tespiti</dc:subject>
  <dc:creator>Selçuk Sezer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